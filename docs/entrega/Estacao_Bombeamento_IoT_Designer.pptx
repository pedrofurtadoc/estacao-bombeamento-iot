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3" r:id="rId16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BE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edroFurtadoC/estacao-bombeamento-io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AD3C2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8961120" y="1143000"/>
            <a:ext cx="146304" cy="146304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0" y="1143000"/>
            <a:ext cx="14630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1828800"/>
            <a:ext cx="146304" cy="146304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0" y="1828800"/>
            <a:ext cx="14630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64040" y="2926080"/>
            <a:ext cx="146304" cy="146304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64040" y="2926080"/>
            <a:ext cx="14630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0" y="3337560"/>
            <a:ext cx="146304" cy="146304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0" y="3337560"/>
            <a:ext cx="14630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95560" y="4572000"/>
            <a:ext cx="146304" cy="146304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95560" y="4572000"/>
            <a:ext cx="14630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0" y="5074920"/>
            <a:ext cx="146304" cy="146304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5074920"/>
            <a:ext cx="14630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9034272" y="1261872"/>
            <a:ext cx="1252728" cy="640080"/>
          </a:xfrm>
          <a:prstGeom prst="line">
            <a:avLst/>
          </a:prstGeom>
          <a:ln w="12700">
            <a:solidFill>
              <a:srgbClr val="2A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537192" y="1956816"/>
            <a:ext cx="777240" cy="1042416"/>
          </a:xfrm>
          <a:prstGeom prst="line">
            <a:avLst/>
          </a:prstGeom>
          <a:ln w="12700">
            <a:solidFill>
              <a:srgbClr val="2A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37192" y="3063240"/>
            <a:ext cx="1499616" cy="338328"/>
          </a:xfrm>
          <a:prstGeom prst="line">
            <a:avLst/>
          </a:prstGeom>
          <a:ln w="12700">
            <a:solidFill>
              <a:srgbClr val="2A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37192" y="3063240"/>
            <a:ext cx="722376" cy="1581912"/>
          </a:xfrm>
          <a:prstGeom prst="line">
            <a:avLst/>
          </a:prstGeom>
          <a:ln w="12700">
            <a:solidFill>
              <a:srgbClr val="2A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851392" y="4645152"/>
            <a:ext cx="1408176" cy="493776"/>
          </a:xfrm>
          <a:prstGeom prst="line">
            <a:avLst/>
          </a:prstGeom>
          <a:ln w="12700">
            <a:solidFill>
              <a:srgbClr val="2A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09560" y="2148840"/>
            <a:ext cx="2057400" cy="205740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905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09560" y="2514600"/>
            <a:ext cx="2057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2AD3C2"/>
                </a:solidFill>
                <a:latin typeface="Aptos"/>
              </a:rPr>
              <a:t>IoT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090672"/>
            <a:ext cx="2057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7FC"/>
                </a:solidFill>
                <a:latin typeface="Aptos"/>
              </a:rPr>
              <a:t>MONITORAMENTO
INDUSTRIAL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658368"/>
            <a:ext cx="2651760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8368"/>
            <a:ext cx="2651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AD3C2"/>
                </a:solidFill>
                <a:latin typeface="Aptos"/>
              </a:rPr>
              <a:t>HARDWARE CONFIGURÁVEL E IoT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1417320"/>
            <a:ext cx="65836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900" b="1">
                <a:solidFill>
                  <a:srgbClr val="F2F7FC"/>
                </a:solidFill>
                <a:latin typeface="Aptos"/>
              </a:rPr>
              <a:t>Estação de
Bombeamento IoT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852928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AD3C2"/>
                </a:solidFill>
                <a:latin typeface="Aptos"/>
              </a:rPr>
              <a:t>Mini Central de Monitoramento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01568"/>
            <a:ext cx="6858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 err="1">
                <a:solidFill>
                  <a:srgbClr val="9DB0C4"/>
                </a:solidFill>
                <a:latin typeface="Aptos"/>
              </a:rPr>
              <a:t>Sensoriamento</a:t>
            </a:r>
            <a:r>
              <a:rPr sz="1400" b="0" dirty="0">
                <a:solidFill>
                  <a:srgbClr val="9DB0C4"/>
                </a:solidFill>
                <a:latin typeface="Aptos"/>
              </a:rPr>
              <a:t> • MQTT • </a:t>
            </a:r>
            <a:r>
              <a:rPr sz="1400" b="0" dirty="0" err="1">
                <a:solidFill>
                  <a:srgbClr val="9DB0C4"/>
                </a:solidFill>
                <a:latin typeface="Aptos"/>
              </a:rPr>
              <a:t>InfluxDB</a:t>
            </a:r>
            <a:r>
              <a:rPr sz="1400" b="0" dirty="0">
                <a:solidFill>
                  <a:srgbClr val="9DB0C4"/>
                </a:solidFill>
                <a:latin typeface="Aptos"/>
              </a:rPr>
              <a:t> • Grafana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66360"/>
            <a:ext cx="1481328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166360"/>
            <a:ext cx="14813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88FFF"/>
                </a:solidFill>
                <a:latin typeface="Aptos"/>
              </a:rPr>
              <a:t>3 MOTOBOMBAS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5166360"/>
            <a:ext cx="1481328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31720" y="5166360"/>
            <a:ext cx="14813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AD3C2"/>
                </a:solidFill>
                <a:latin typeface="Aptos"/>
              </a:rPr>
              <a:t>TELEMETRIA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166360"/>
            <a:ext cx="1481328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23360" y="5166360"/>
            <a:ext cx="14813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F5B5B"/>
                </a:solidFill>
                <a:latin typeface="Aptos"/>
              </a:rPr>
              <a:t>ALERTAS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5166360"/>
            <a:ext cx="1481328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15000" y="5166360"/>
            <a:ext cx="14813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49CD83"/>
                </a:solidFill>
                <a:latin typeface="Aptos"/>
              </a:rP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06440"/>
            <a:ext cx="6217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B0C4"/>
                </a:solidFill>
                <a:latin typeface="Aptos"/>
              </a:rPr>
              <a:t>Arquitetura local, demonstrável e orientada a dados.</a:t>
            </a:r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4AF44DD5-77D8-5D61-A37A-087D0235418E}"/>
              </a:ext>
            </a:extLst>
          </p:cNvPr>
          <p:cNvSpPr txBox="1"/>
          <p:nvPr/>
        </p:nvSpPr>
        <p:spPr>
          <a:xfrm>
            <a:off x="640080" y="4094946"/>
            <a:ext cx="685800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00" b="0" dirty="0">
                <a:solidFill>
                  <a:srgbClr val="9DB0C4"/>
                </a:solidFill>
                <a:latin typeface="Aptos"/>
              </a:rPr>
              <a:t>André Fernando Machado - 837864</a:t>
            </a:r>
            <a:br>
              <a:rPr lang="pt-BR" sz="1400" b="0" dirty="0">
                <a:solidFill>
                  <a:srgbClr val="9DB0C4"/>
                </a:solidFill>
                <a:latin typeface="Aptos"/>
              </a:rPr>
            </a:br>
            <a:r>
              <a:rPr lang="pt-BR" sz="1400" b="0" dirty="0">
                <a:solidFill>
                  <a:srgbClr val="9DB0C4"/>
                </a:solidFill>
                <a:latin typeface="Aptos"/>
              </a:rPr>
              <a:t>Igor Almeida </a:t>
            </a:r>
            <a:r>
              <a:rPr lang="pt-BR" sz="1400" b="0" dirty="0" err="1">
                <a:solidFill>
                  <a:srgbClr val="9DB0C4"/>
                </a:solidFill>
                <a:latin typeface="Aptos"/>
              </a:rPr>
              <a:t>Polegato</a:t>
            </a:r>
            <a:r>
              <a:rPr lang="pt-BR" sz="1400" b="0" dirty="0">
                <a:solidFill>
                  <a:srgbClr val="9DB0C4"/>
                </a:solidFill>
                <a:latin typeface="Aptos"/>
              </a:rPr>
              <a:t> - 838821 </a:t>
            </a:r>
            <a:br>
              <a:rPr lang="pt-BR" sz="1400" b="0" dirty="0">
                <a:solidFill>
                  <a:srgbClr val="9DB0C4"/>
                </a:solidFill>
                <a:latin typeface="Aptos"/>
              </a:rPr>
            </a:br>
            <a:r>
              <a:rPr lang="pt-BR" sz="1400" b="0" dirty="0">
                <a:solidFill>
                  <a:srgbClr val="9DB0C4"/>
                </a:solidFill>
                <a:latin typeface="Aptos"/>
              </a:rPr>
              <a:t>Jaqueline Santos Lopes - 839424 </a:t>
            </a:r>
            <a:br>
              <a:rPr lang="pt-BR" sz="1400" b="0" dirty="0">
                <a:solidFill>
                  <a:srgbClr val="9DB0C4"/>
                </a:solidFill>
                <a:latin typeface="Aptos"/>
              </a:rPr>
            </a:br>
            <a:r>
              <a:rPr lang="pt-BR" sz="1400" b="0" dirty="0">
                <a:solidFill>
                  <a:srgbClr val="9DB0C4"/>
                </a:solidFill>
                <a:latin typeface="Aptos"/>
              </a:rPr>
              <a:t>Pedro Furtado Cunha - 837711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8FFF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88FFF"/>
                </a:solidFill>
                <a:latin typeface="Aptos"/>
              </a:rPr>
              <a:t>01 •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2F7FC"/>
                </a:solidFill>
                <a:latin typeface="Aptos"/>
              </a:rPr>
              <a:t>Por que monitorar uma estação de bombeamento?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Transformar sinais dos equipamentos em informação para acompanhamento e identificação de anomalias.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3749039" cy="406908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88FFF"/>
                </a:solidFill>
                <a:latin typeface="Aptos"/>
              </a:rPr>
              <a:t>O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3017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2F7FC"/>
                </a:solidFill>
                <a:latin typeface="Aptos"/>
              </a:rPr>
              <a:t>Uma falha não começa
como uma falha.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75887"/>
            <a:ext cx="3017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DB0C4"/>
                </a:solidFill>
                <a:latin typeface="Aptos"/>
              </a:rPr>
              <a:t>Temperatura, vibração, corrente, rotação, vazão e gases podem indicar mudanças no comportamento da máquina.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2514600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2514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AD3C2"/>
                </a:solidFill>
                <a:latin typeface="Aptos"/>
              </a:rPr>
              <a:t>DADOS → SINAIS → ALERTAS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993392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AD3C2"/>
                </a:solidFill>
                <a:latin typeface="Aptos"/>
              </a:rPr>
              <a:t>OBJETIVO DO PROJETO</a:t>
            </a:r>
          </a:p>
        </p:txBody>
      </p:sp>
      <p:sp>
        <p:nvSpPr>
          <p:cNvPr id="15" name="Oval 14"/>
          <p:cNvSpPr/>
          <p:nvPr/>
        </p:nvSpPr>
        <p:spPr>
          <a:xfrm>
            <a:off x="4892040" y="2423160"/>
            <a:ext cx="512064" cy="512064"/>
          </a:xfrm>
          <a:prstGeom prst="ellipse">
            <a:avLst/>
          </a:prstGeom>
          <a:solidFill>
            <a:srgbClr val="388FFF"/>
          </a:solidFill>
          <a:ln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242316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2404872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F7FC"/>
                </a:solidFill>
                <a:latin typeface="Aptos"/>
              </a:rPr>
              <a:t>Capturar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404872"/>
            <a:ext cx="4160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B0C4"/>
                </a:solidFill>
                <a:latin typeface="Aptos"/>
              </a:rPr>
              <a:t>sensores instalados nas motobombas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48072" y="2953512"/>
            <a:ext cx="0" cy="265176"/>
          </a:xfrm>
          <a:prstGeom prst="line">
            <a:avLst/>
          </a:prstGeom>
          <a:ln w="12700">
            <a:solidFill>
              <a:srgbClr val="2F4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892040" y="3273552"/>
            <a:ext cx="512064" cy="512064"/>
          </a:xfrm>
          <a:prstGeom prst="ellipse">
            <a:avLst/>
          </a:prstGeom>
          <a:solidFill>
            <a:srgbClr val="388FFF"/>
          </a:solidFill>
          <a:ln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3273552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3255264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F7FC"/>
                </a:solidFill>
                <a:latin typeface="Aptos"/>
              </a:rPr>
              <a:t>Transmitir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255264"/>
            <a:ext cx="4160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B0C4"/>
                </a:solidFill>
                <a:latin typeface="Aptos"/>
              </a:rPr>
              <a:t>telemetria via Wi-Fi + MQTT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48072" y="3803904"/>
            <a:ext cx="0" cy="265176"/>
          </a:xfrm>
          <a:prstGeom prst="line">
            <a:avLst/>
          </a:prstGeom>
          <a:ln w="12700">
            <a:solidFill>
              <a:srgbClr val="2F4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892040" y="4123944"/>
            <a:ext cx="512064" cy="512064"/>
          </a:xfrm>
          <a:prstGeom prst="ellipse">
            <a:avLst/>
          </a:prstGeom>
          <a:solidFill>
            <a:srgbClr val="388FFF"/>
          </a:solidFill>
          <a:ln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4123944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4105656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F7FC"/>
                </a:solidFill>
                <a:latin typeface="Aptos"/>
              </a:rPr>
              <a:t>Armazenar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105656"/>
            <a:ext cx="4160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B0C4"/>
                </a:solidFill>
                <a:latin typeface="Aptos"/>
              </a:rPr>
              <a:t>série temporal no InfluxDB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48072" y="4654296"/>
            <a:ext cx="0" cy="265176"/>
          </a:xfrm>
          <a:prstGeom prst="line">
            <a:avLst/>
          </a:prstGeom>
          <a:ln w="12700">
            <a:solidFill>
              <a:srgbClr val="2F4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92040" y="4974336"/>
            <a:ext cx="512064" cy="512064"/>
          </a:xfrm>
          <a:prstGeom prst="ellipse">
            <a:avLst/>
          </a:prstGeom>
          <a:solidFill>
            <a:srgbClr val="388FFF"/>
          </a:solidFill>
          <a:ln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497433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6128" y="495604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F7FC"/>
                </a:solidFill>
                <a:latin typeface="Aptos"/>
              </a:rPr>
              <a:t>Visualizar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956048"/>
            <a:ext cx="4160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B0C4"/>
                </a:solidFill>
                <a:latin typeface="Aptos"/>
              </a:rPr>
              <a:t>indicadores e alertas no Grafana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AD3C2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AD3C2"/>
                </a:solidFill>
                <a:latin typeface="Aptos"/>
              </a:rPr>
              <a:t>02 •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2F7FC"/>
                </a:solidFill>
                <a:latin typeface="Aptos"/>
              </a:rPr>
              <a:t>Da máquina ao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Uma cadeia de dados simples: medir → transportar → processar → armazenar → visualizar.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38527"/>
            <a:ext cx="1828800" cy="530353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2018035"/>
            <a:ext cx="457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388FFF"/>
                </a:solidFill>
                <a:latin typeface="Aptos"/>
              </a:rPr>
              <a:t>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039112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F7FC"/>
                </a:solidFill>
                <a:latin typeface="Aptos"/>
              </a:rPr>
              <a:t>ESP32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295144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DB0C4"/>
                </a:solidFill>
                <a:latin typeface="Aptos"/>
              </a:rPr>
              <a:t>DHT22 • Hall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75888"/>
            <a:ext cx="1828800" cy="585216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2416" y="3796543"/>
            <a:ext cx="6492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388FFF"/>
                </a:solidFill>
                <a:latin typeface="Aptos"/>
              </a:rPr>
              <a:t>M02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776472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F7FC"/>
                </a:solidFill>
                <a:latin typeface="Aptos"/>
              </a:rPr>
              <a:t>ESP32-S3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4032504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DB0C4"/>
                </a:solidFill>
                <a:latin typeface="Aptos"/>
              </a:rPr>
              <a:t>DHT22 • Hall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13248"/>
            <a:ext cx="1828800" cy="62179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6" y="5515615"/>
            <a:ext cx="457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388FFF"/>
                </a:solidFill>
                <a:latin typeface="Aptos"/>
              </a:rPr>
              <a:t>M03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5513831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F7FC"/>
                </a:solidFill>
                <a:latin typeface="Aptos"/>
              </a:rPr>
              <a:t>ESP32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5769864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DB0C4"/>
                </a:solidFill>
                <a:latin typeface="Aptos"/>
              </a:rPr>
              <a:t>DHT22 • MQ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346704"/>
            <a:ext cx="1508760" cy="621792"/>
          </a:xfrm>
          <a:prstGeom prst="roundRect">
            <a:avLst>
              <a:gd name="adj" fmla="val 12000"/>
            </a:avLst>
          </a:prstGeom>
          <a:solidFill>
            <a:srgbClr val="162B42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11880" y="3447288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AD3C2"/>
                </a:solidFill>
                <a:latin typeface="Aptos"/>
              </a:rPr>
              <a:t>MQTT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703320"/>
            <a:ext cx="1508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9DB0C4"/>
                </a:solidFill>
                <a:latin typeface="Aptos"/>
              </a:rPr>
              <a:t>transporte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261104"/>
            <a:ext cx="1508760" cy="621792"/>
          </a:xfrm>
          <a:prstGeom prst="roundRect">
            <a:avLst>
              <a:gd name="adj" fmla="val 12000"/>
            </a:avLst>
          </a:prstGeom>
          <a:solidFill>
            <a:srgbClr val="162B42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4361688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88FFF"/>
                </a:solidFill>
                <a:latin typeface="Aptos"/>
              </a:rPr>
              <a:t>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617720"/>
            <a:ext cx="1508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9DB0C4"/>
                </a:solidFill>
                <a:latin typeface="Aptos"/>
              </a:rPr>
              <a:t>ingestão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75504"/>
            <a:ext cx="1508760" cy="621792"/>
          </a:xfrm>
          <a:prstGeom prst="roundRect">
            <a:avLst>
              <a:gd name="adj" fmla="val 12000"/>
            </a:avLst>
          </a:prstGeom>
          <a:solidFill>
            <a:srgbClr val="162B42"/>
          </a:solidFill>
          <a:ln w="12700"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80" y="5276088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7BE41"/>
                </a:solidFill>
                <a:latin typeface="Aptos"/>
              </a:rPr>
              <a:t>InfluxDB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5532120"/>
            <a:ext cx="1508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9DB0C4"/>
                </a:solidFill>
                <a:latin typeface="Aptos"/>
              </a:rPr>
              <a:t>séries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43200" y="2331720"/>
            <a:ext cx="868680" cy="2240280"/>
          </a:xfrm>
          <a:prstGeom prst="line">
            <a:avLst/>
          </a:prstGeom>
          <a:ln w="16510">
            <a:solidFill>
              <a:srgbClr val="2A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43200" y="4069080"/>
            <a:ext cx="868680" cy="502920"/>
          </a:xfrm>
          <a:prstGeom prst="line">
            <a:avLst/>
          </a:prstGeom>
          <a:ln w="16510">
            <a:solidFill>
              <a:srgbClr val="2A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743200" y="4572000"/>
            <a:ext cx="868680" cy="1234440"/>
          </a:xfrm>
          <a:prstGeom prst="line">
            <a:avLst/>
          </a:prstGeom>
          <a:ln w="16510">
            <a:solidFill>
              <a:srgbClr val="2A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20640" y="4572000"/>
            <a:ext cx="1051560" cy="0"/>
          </a:xfrm>
          <a:prstGeom prst="line">
            <a:avLst/>
          </a:prstGeom>
          <a:ln w="19050">
            <a:solidFill>
              <a:srgbClr val="2A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72200" y="4142232"/>
            <a:ext cx="1828800" cy="740663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414223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9CD83"/>
                </a:solidFill>
                <a:latin typeface="Aptos"/>
              </a:rPr>
              <a:t>Grafana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517136"/>
            <a:ext cx="1828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DB0C4"/>
                </a:solidFill>
                <a:latin typeface="Aptos"/>
              </a:rPr>
              <a:t>dashboard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4169663"/>
            <a:ext cx="640080" cy="640080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4169663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01E"/>
                </a:solidFill>
                <a:latin typeface="Aptos"/>
              </a:rPr>
              <a:t>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919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F7FC"/>
                </a:solidFill>
                <a:latin typeface="Aptos"/>
              </a:rPr>
              <a:t>Operador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8001000" y="4526280"/>
            <a:ext cx="1307592" cy="45720"/>
          </a:xfrm>
          <a:prstGeom prst="line">
            <a:avLst/>
          </a:prstGeom>
          <a:ln w="19050">
            <a:solidFill>
              <a:srgbClr val="2A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4400" y="635508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B0C4"/>
                </a:solidFill>
                <a:latin typeface="Aptos"/>
              </a:rPr>
              <a:t>EDGE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6355080"/>
            <a:ext cx="2194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B0C4"/>
                </a:solidFill>
                <a:latin typeface="Aptos"/>
              </a:rPr>
              <a:t>BACKEND LOCAL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6355080"/>
            <a:ext cx="1828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B0C4"/>
                </a:solidFill>
                <a:latin typeface="Aptos"/>
              </a:rPr>
              <a:t>VISUALIZAÇÃO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8FFF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388FFF"/>
                </a:solidFill>
                <a:latin typeface="Aptos"/>
              </a:rPr>
              <a:t>APÊNDICE • BANCADA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08076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 dirty="0">
                <a:solidFill>
                  <a:srgbClr val="F2F7FC"/>
                </a:solidFill>
                <a:latin typeface="Aptos"/>
              </a:rPr>
              <a:t>Mapa </a:t>
            </a:r>
            <a:r>
              <a:rPr sz="2900" b="1" dirty="0" err="1">
                <a:solidFill>
                  <a:srgbClr val="F2F7FC"/>
                </a:solidFill>
                <a:latin typeface="Aptos"/>
              </a:rPr>
              <a:t>rápido</a:t>
            </a:r>
            <a:r>
              <a:rPr sz="2900" b="1" dirty="0">
                <a:solidFill>
                  <a:srgbClr val="F2F7FC"/>
                </a:solidFill>
                <a:latin typeface="Aptos"/>
              </a:rPr>
              <a:t> dos </a:t>
            </a:r>
            <a:r>
              <a:rPr sz="2900" b="1" dirty="0" err="1">
                <a:solidFill>
                  <a:srgbClr val="F2F7FC"/>
                </a:solidFill>
                <a:latin typeface="Aptos"/>
              </a:rPr>
              <a:t>dispositivos</a:t>
            </a:r>
            <a:endParaRPr sz="2900" b="1" dirty="0">
              <a:solidFill>
                <a:srgbClr val="F2F7F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dirty="0" err="1">
                <a:solidFill>
                  <a:srgbClr val="9DB0C4"/>
                </a:solidFill>
                <a:latin typeface="Aptos"/>
              </a:rPr>
              <a:t>Resumo</a:t>
            </a:r>
            <a:r>
              <a:rPr sz="1300" b="0" dirty="0">
                <a:solidFill>
                  <a:srgbClr val="9DB0C4"/>
                </a:solidFill>
                <a:latin typeface="Aptos"/>
              </a:rPr>
              <a:t> visual para </a:t>
            </a:r>
            <a:r>
              <a:rPr sz="1300" b="0" dirty="0" err="1">
                <a:solidFill>
                  <a:srgbClr val="9DB0C4"/>
                </a:solidFill>
                <a:latin typeface="Aptos"/>
              </a:rPr>
              <a:t>apoiar</a:t>
            </a:r>
            <a:r>
              <a:rPr sz="1300" b="0" dirty="0">
                <a:solidFill>
                  <a:srgbClr val="9DB0C4"/>
                </a:solidFill>
                <a:latin typeface="Aptos"/>
              </a:rPr>
              <a:t> a </a:t>
            </a:r>
            <a:r>
              <a:rPr sz="1300" b="0" dirty="0" err="1">
                <a:solidFill>
                  <a:srgbClr val="9DB0C4"/>
                </a:solidFill>
                <a:latin typeface="Aptos"/>
              </a:rPr>
              <a:t>montagem</a:t>
            </a:r>
            <a:r>
              <a:rPr sz="1300" b="0" dirty="0">
                <a:solidFill>
                  <a:srgbClr val="9DB0C4"/>
                </a:solidFill>
                <a:latin typeface="Aptos"/>
              </a:rPr>
              <a:t> e a </a:t>
            </a:r>
            <a:r>
              <a:rPr sz="1300" b="0" dirty="0" err="1">
                <a:solidFill>
                  <a:srgbClr val="9DB0C4"/>
                </a:solidFill>
                <a:latin typeface="Aptos"/>
              </a:rPr>
              <a:t>explicação</a:t>
            </a:r>
            <a:r>
              <a:rPr sz="1300" b="0" dirty="0">
                <a:solidFill>
                  <a:srgbClr val="9DB0C4"/>
                </a:solidFill>
                <a:latin typeface="Aptos"/>
              </a:rPr>
              <a:t> do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789920" cy="624823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327" y="1685552"/>
            <a:ext cx="658368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327" y="1668138"/>
            <a:ext cx="6583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AD3C2"/>
                </a:solidFill>
                <a:latin typeface="Aptos"/>
              </a:rPr>
              <a:t>M01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73736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F7FC"/>
                </a:solidFill>
                <a:latin typeface="Aptos"/>
              </a:rPr>
              <a:t>ESP32 DevKit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3736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B0C4"/>
                </a:solidFill>
                <a:latin typeface="Aptos"/>
              </a:rPr>
              <a:t>DHT22 + Hall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AD3C2"/>
                </a:solidFill>
                <a:latin typeface="Aptos"/>
              </a:rPr>
              <a:t>LED: RGB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504D65A9-3845-81DD-E0C7-8E9D0AF2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30" y="2682223"/>
            <a:ext cx="4767389" cy="3578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8FFF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88FFF"/>
                </a:solidFill>
                <a:latin typeface="Aptos"/>
              </a:rPr>
              <a:t>APÊNDICE • BANCADA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 dirty="0">
                <a:solidFill>
                  <a:srgbClr val="F2F7FC"/>
                </a:solidFill>
                <a:latin typeface="Aptos"/>
              </a:rPr>
              <a:t>Mapa </a:t>
            </a:r>
            <a:r>
              <a:rPr sz="2900" b="1" dirty="0" err="1">
                <a:solidFill>
                  <a:srgbClr val="F2F7FC"/>
                </a:solidFill>
                <a:latin typeface="Aptos"/>
              </a:rPr>
              <a:t>rápido</a:t>
            </a:r>
            <a:r>
              <a:rPr sz="2900" b="1" dirty="0">
                <a:solidFill>
                  <a:srgbClr val="F2F7FC"/>
                </a:solidFill>
                <a:latin typeface="Aptos"/>
              </a:rPr>
              <a:t> dos </a:t>
            </a:r>
            <a:r>
              <a:rPr sz="2900" b="1" dirty="0" err="1">
                <a:solidFill>
                  <a:srgbClr val="F2F7FC"/>
                </a:solidFill>
                <a:latin typeface="Aptos"/>
              </a:rPr>
              <a:t>dispositivos</a:t>
            </a:r>
            <a:endParaRPr sz="2900" b="1" dirty="0">
              <a:solidFill>
                <a:srgbClr val="F2F7F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" y="1330452"/>
            <a:ext cx="10789920" cy="801824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0392" y="1543237"/>
            <a:ext cx="658368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2147" y="1566097"/>
            <a:ext cx="6583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388FFF"/>
                </a:solidFill>
                <a:latin typeface="Aptos"/>
              </a:rPr>
              <a:t>M02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1543237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F7FC"/>
                </a:solidFill>
                <a:latin typeface="Aptos"/>
              </a:rPr>
              <a:t>ESP32-S3-N16R8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543237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B0C4"/>
                </a:solidFill>
                <a:latin typeface="Aptos"/>
              </a:rPr>
              <a:t>DHT22 + Hall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543237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88FFF"/>
                </a:solidFill>
                <a:latin typeface="Aptos"/>
              </a:rPr>
              <a:t>LED: —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C3290CA4-E0DE-F0C7-5E99-EB876CD26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302" y="2352944"/>
            <a:ext cx="6093396" cy="39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27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8FFF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88FFF"/>
                </a:solidFill>
                <a:latin typeface="Aptos"/>
              </a:rPr>
              <a:t>APÊNDICE • BANCADA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2F7FC"/>
                </a:solidFill>
                <a:latin typeface="Aptos"/>
              </a:rPr>
              <a:t>Mapa rápido dos dispositivos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Resumo visual para apoiar a montagem e a explicação do hardware.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1666006"/>
            <a:ext cx="10789920" cy="500523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1730014"/>
            <a:ext cx="658368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1730014"/>
            <a:ext cx="6583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7BE41"/>
                </a:solidFill>
                <a:latin typeface="Aptos"/>
              </a:rPr>
              <a:t>M03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1666007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F2F7FC"/>
                </a:solidFill>
                <a:latin typeface="Aptos"/>
              </a:rPr>
              <a:t>ESP32 </a:t>
            </a:r>
            <a:r>
              <a:rPr sz="1300" b="1" dirty="0" err="1">
                <a:solidFill>
                  <a:srgbClr val="F2F7FC"/>
                </a:solidFill>
                <a:latin typeface="Aptos"/>
              </a:rPr>
              <a:t>DevKit</a:t>
            </a:r>
            <a:endParaRPr sz="1300" b="1" dirty="0">
              <a:solidFill>
                <a:srgbClr val="F2F7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0560" y="1666007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DB0C4"/>
                </a:solidFill>
                <a:latin typeface="Aptos"/>
              </a:rPr>
              <a:t>DHT22 + MQ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666007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7BE41"/>
                </a:solidFill>
                <a:latin typeface="Aptos"/>
              </a:rPr>
              <a:t>LED: Flash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C694C968-8D5E-1B70-F941-9789B08CB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770" y="2351743"/>
            <a:ext cx="5396459" cy="391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4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8FFF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88FFF"/>
                </a:solidFill>
                <a:latin typeface="Aptos"/>
              </a:rPr>
              <a:t>03 •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2F7FC"/>
                </a:solidFill>
                <a:latin typeface="Aptos"/>
              </a:rPr>
              <a:t>Três motobombas, três conjuntos de sensores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Cada ESP32 realiza a leitura e envia a telemetria para a central.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3401568" cy="33375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8" y="2029968"/>
            <a:ext cx="658368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029968"/>
            <a:ext cx="6583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AD3C2"/>
                </a:solidFill>
                <a:latin typeface="Aptos"/>
              </a:rPr>
              <a:t>M01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01168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F7FC"/>
                </a:solidFill>
                <a:latin typeface="Aptos"/>
              </a:rPr>
              <a:t>ESP32 DevKit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587752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B0C4"/>
                </a:solidFill>
                <a:latin typeface="Aptos"/>
              </a:rPr>
              <a:t>SENSORES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" y="2916935"/>
            <a:ext cx="164592" cy="164592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" y="2916935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2889503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7FC"/>
                </a:solidFill>
                <a:latin typeface="Aptos"/>
              </a:rPr>
              <a:t>DHT22 • temperatura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" y="3355847"/>
            <a:ext cx="164592" cy="164592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" y="3355847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3328415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7FC"/>
                </a:solidFill>
                <a:latin typeface="Aptos"/>
              </a:rPr>
              <a:t>Sensor Hall • vazão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" y="3794759"/>
            <a:ext cx="164592" cy="164592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" y="3794759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3767328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7FC"/>
                </a:solidFill>
                <a:latin typeface="Aptos"/>
              </a:rPr>
              <a:t>LED RGB • estado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" y="4681728"/>
            <a:ext cx="2962656" cy="274320"/>
          </a:xfrm>
          <a:prstGeom prst="roundRect">
            <a:avLst>
              <a:gd name="adj" fmla="val 12000"/>
            </a:avLst>
          </a:prstGeom>
          <a:solidFill>
            <a:srgbClr val="0C192B"/>
          </a:solidFill>
          <a:ln w="12700">
            <a:solidFill>
              <a:srgbClr val="0C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4681728"/>
            <a:ext cx="288950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9DB0C4"/>
                </a:solidFill>
                <a:latin typeface="Aptos"/>
              </a:rPr>
              <a:t>ESP32 → Wi-Fi → MQTT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1828800"/>
            <a:ext cx="3401568" cy="33375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90288" y="2029968"/>
            <a:ext cx="658368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2029968"/>
            <a:ext cx="6583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88FFF"/>
                </a:solidFill>
                <a:latin typeface="Aptos"/>
              </a:rPr>
              <a:t>M02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201168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F7FC"/>
                </a:solidFill>
                <a:latin typeface="Aptos"/>
              </a:rPr>
              <a:t>ESP32-S3-N16R8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2587752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B0C4"/>
                </a:solidFill>
                <a:latin typeface="Aptos"/>
              </a:rPr>
              <a:t>SENSORES</a:t>
            </a:r>
          </a:p>
        </p:txBody>
      </p:sp>
      <p:sp>
        <p:nvSpPr>
          <p:cNvPr id="29" name="Oval 28"/>
          <p:cNvSpPr/>
          <p:nvPr/>
        </p:nvSpPr>
        <p:spPr>
          <a:xfrm>
            <a:off x="4608576" y="2916935"/>
            <a:ext cx="164592" cy="164592"/>
          </a:xfrm>
          <a:prstGeom prst="ellipse">
            <a:avLst/>
          </a:prstGeom>
          <a:solidFill>
            <a:srgbClr val="388FFF"/>
          </a:solidFill>
          <a:ln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08576" y="2916935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64608" y="2889503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7FC"/>
                </a:solidFill>
                <a:latin typeface="Aptos"/>
              </a:rPr>
              <a:t>DHT22 • temperatura</a:t>
            </a:r>
          </a:p>
        </p:txBody>
      </p:sp>
      <p:sp>
        <p:nvSpPr>
          <p:cNvPr id="32" name="Oval 31"/>
          <p:cNvSpPr/>
          <p:nvPr/>
        </p:nvSpPr>
        <p:spPr>
          <a:xfrm>
            <a:off x="4608576" y="3355847"/>
            <a:ext cx="164592" cy="164592"/>
          </a:xfrm>
          <a:prstGeom prst="ellipse">
            <a:avLst/>
          </a:prstGeom>
          <a:solidFill>
            <a:srgbClr val="388FFF"/>
          </a:solidFill>
          <a:ln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08576" y="3355847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64608" y="3328415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7FC"/>
                </a:solidFill>
                <a:latin typeface="Aptos"/>
              </a:rPr>
              <a:t>Sensor Hall • vazão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08576" y="4681728"/>
            <a:ext cx="2962656" cy="274320"/>
          </a:xfrm>
          <a:prstGeom prst="roundRect">
            <a:avLst>
              <a:gd name="adj" fmla="val 12000"/>
            </a:avLst>
          </a:prstGeom>
          <a:solidFill>
            <a:srgbClr val="0C192B"/>
          </a:solidFill>
          <a:ln w="12700">
            <a:solidFill>
              <a:srgbClr val="0C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45152" y="4681728"/>
            <a:ext cx="288950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9DB0C4"/>
                </a:solidFill>
                <a:latin typeface="Aptos"/>
              </a:rPr>
              <a:t>ESP32 → Wi-Fi → MQTT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1828800"/>
            <a:ext cx="3401568" cy="33375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85048" y="2029968"/>
            <a:ext cx="658368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85048" y="2029968"/>
            <a:ext cx="6583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7BE41"/>
                </a:solidFill>
                <a:latin typeface="Aptos"/>
              </a:rPr>
              <a:t>M03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201168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F7FC"/>
                </a:solidFill>
                <a:latin typeface="Aptos"/>
              </a:rPr>
              <a:t>ESP32 DevKit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2587752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B0C4"/>
                </a:solidFill>
                <a:latin typeface="Aptos"/>
              </a:rPr>
              <a:t>SENSORES</a:t>
            </a:r>
          </a:p>
        </p:txBody>
      </p:sp>
      <p:sp>
        <p:nvSpPr>
          <p:cNvPr id="42" name="Oval 41"/>
          <p:cNvSpPr/>
          <p:nvPr/>
        </p:nvSpPr>
        <p:spPr>
          <a:xfrm>
            <a:off x="8403336" y="2916935"/>
            <a:ext cx="164592" cy="164592"/>
          </a:xfrm>
          <a:prstGeom prst="ellipse">
            <a:avLst/>
          </a:prstGeom>
          <a:solidFill>
            <a:srgbClr val="F7BE41"/>
          </a:solidFill>
          <a:ln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03336" y="2916935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59367" y="2889503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7FC"/>
                </a:solidFill>
                <a:latin typeface="Aptos"/>
              </a:rPr>
              <a:t>DHT22 • temperatura</a:t>
            </a:r>
          </a:p>
        </p:txBody>
      </p:sp>
      <p:sp>
        <p:nvSpPr>
          <p:cNvPr id="45" name="Oval 44"/>
          <p:cNvSpPr/>
          <p:nvPr/>
        </p:nvSpPr>
        <p:spPr>
          <a:xfrm>
            <a:off x="8403336" y="3355847"/>
            <a:ext cx="164592" cy="164592"/>
          </a:xfrm>
          <a:prstGeom prst="ellipse">
            <a:avLst/>
          </a:prstGeom>
          <a:solidFill>
            <a:srgbClr val="F7BE41"/>
          </a:solidFill>
          <a:ln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03336" y="3355847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59367" y="3328415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7FC"/>
                </a:solidFill>
                <a:latin typeface="Aptos"/>
              </a:rPr>
              <a:t>MQ • gás</a:t>
            </a:r>
          </a:p>
        </p:txBody>
      </p:sp>
      <p:sp>
        <p:nvSpPr>
          <p:cNvPr id="48" name="Oval 47"/>
          <p:cNvSpPr/>
          <p:nvPr/>
        </p:nvSpPr>
        <p:spPr>
          <a:xfrm>
            <a:off x="8403336" y="3794759"/>
            <a:ext cx="164592" cy="164592"/>
          </a:xfrm>
          <a:prstGeom prst="ellipse">
            <a:avLst/>
          </a:prstGeom>
          <a:solidFill>
            <a:srgbClr val="F7BE41"/>
          </a:solidFill>
          <a:ln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03336" y="3794759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59367" y="3767328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2F7FC"/>
                </a:solidFill>
                <a:latin typeface="Aptos"/>
              </a:rPr>
              <a:t>LED flash • estado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03336" y="4681728"/>
            <a:ext cx="2962656" cy="274320"/>
          </a:xfrm>
          <a:prstGeom prst="roundRect">
            <a:avLst>
              <a:gd name="adj" fmla="val 12000"/>
            </a:avLst>
          </a:prstGeom>
          <a:solidFill>
            <a:srgbClr val="0C192B"/>
          </a:solidFill>
          <a:ln w="12700">
            <a:solidFill>
              <a:srgbClr val="0C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9911" y="4681728"/>
            <a:ext cx="288950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9DB0C4"/>
                </a:solidFill>
                <a:latin typeface="Aptos"/>
              </a:rPr>
              <a:t>ESP32 → Wi-Fi → MQTT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03320" y="5669280"/>
            <a:ext cx="4846320" cy="34747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03320" y="5669280"/>
            <a:ext cx="4846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AD3C2"/>
                </a:solidFill>
                <a:latin typeface="Aptos"/>
              </a:rPr>
              <a:t>EDGE CLASSIFICATION: NORMAL • ATENÇÃO • CRÍTICO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AD3C2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AD3C2"/>
                </a:solidFill>
                <a:latin typeface="Aptos"/>
              </a:rPr>
              <a:t>04 •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2F7FC"/>
                </a:solidFill>
                <a:latin typeface="Aptos"/>
              </a:rPr>
              <a:t>O caminho de cada leitura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O projeto mantém uma camada clara entre dispositivo, ingestão, banco e visualização.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1700784" cy="233172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7512" y="2267712"/>
            <a:ext cx="457200" cy="457200"/>
          </a:xfrm>
          <a:prstGeom prst="ellipse">
            <a:avLst/>
          </a:prstGeom>
          <a:solidFill>
            <a:srgbClr val="388FFF"/>
          </a:solidFill>
          <a:ln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2677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01E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85292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88FFF"/>
                </a:solidFill>
                <a:latin typeface="Aptos"/>
              </a:rPr>
              <a:t>SENSORES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310128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B0C4"/>
                </a:solidFill>
                <a:latin typeface="Aptos"/>
              </a:rPr>
              <a:t>temperatura • vibração
corrente • RPM • vazão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6807" y="2952549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88F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0591" y="2057400"/>
            <a:ext cx="1700784" cy="233172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615184" y="2267712"/>
            <a:ext cx="457200" cy="457200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15184" y="22677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01E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285292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AD3C2"/>
                </a:solidFill>
                <a:latin typeface="Aptos"/>
              </a:rPr>
              <a:t>ESP32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3310128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B0C4"/>
                </a:solidFill>
                <a:latin typeface="Aptos"/>
              </a:rPr>
              <a:t>leitura + classificação
normal / atenção / crítico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2" y="2952549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AD3C2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8264" y="2057400"/>
            <a:ext cx="1700784" cy="233172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62855" y="2267712"/>
            <a:ext cx="457200" cy="457200"/>
          </a:xfrm>
          <a:prstGeom prst="ellipse">
            <a:avLst/>
          </a:prstGeom>
          <a:solidFill>
            <a:srgbClr val="49CD83"/>
          </a:solidFill>
          <a:ln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855" y="22677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01E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5" y="285292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9CD83"/>
                </a:solidFill>
                <a:latin typeface="Aptos"/>
              </a:rPr>
              <a:t>MQTT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5" y="3310128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B0C4"/>
                </a:solidFill>
                <a:latin typeface="Aptos"/>
              </a:rPr>
              <a:t>JSON por máquina
+ status / LWT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518" y="2923433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49CD83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5936" y="2057400"/>
            <a:ext cx="1700784" cy="233172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10527" y="2267712"/>
            <a:ext cx="457200" cy="457200"/>
          </a:xfrm>
          <a:prstGeom prst="ellipse">
            <a:avLst/>
          </a:prstGeom>
          <a:solidFill>
            <a:srgbClr val="F7BE41"/>
          </a:solidFill>
          <a:ln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7" y="22677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01E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285292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7BE41"/>
                </a:solidFill>
                <a:latin typeface="Aptos"/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3310128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B0C4"/>
                </a:solidFill>
                <a:latin typeface="Aptos"/>
              </a:rPr>
              <a:t>ingestão explícita
no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3189" y="2923433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F7BE41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93608" y="2057400"/>
            <a:ext cx="1700784" cy="233172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58200" y="2267712"/>
            <a:ext cx="457200" cy="457200"/>
          </a:xfrm>
          <a:prstGeom prst="ellipse">
            <a:avLst/>
          </a:prstGeom>
          <a:solidFill>
            <a:srgbClr val="388FFF"/>
          </a:solidFill>
          <a:ln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58200" y="22677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01E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85292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88FFF"/>
                </a:solidFill>
                <a:latin typeface="Aptos"/>
              </a:rPr>
              <a:t>INFLUXDB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310128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B0C4"/>
                </a:solidFill>
                <a:latin typeface="Aptos"/>
              </a:rPr>
              <a:t>série temporal
+ retenção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862" y="2923433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88FFF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2057400"/>
            <a:ext cx="1700784" cy="233172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405872" y="2267712"/>
            <a:ext cx="457200" cy="457200"/>
          </a:xfrm>
          <a:prstGeom prst="ellipse">
            <a:avLst/>
          </a:prstGeom>
          <a:solidFill>
            <a:srgbClr val="EF5B5B"/>
          </a:solidFill>
          <a:ln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05872" y="22677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01E"/>
                </a:solidFill>
                <a:latin typeface="Apto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05872" y="285292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F5B5B"/>
                </a:solidFill>
                <a:latin typeface="Aptos"/>
              </a:rPr>
              <a:t>GRAFANA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5872" y="3310128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B0C4"/>
                </a:solidFill>
                <a:latin typeface="Aptos"/>
              </a:rPr>
              <a:t>painéis + alertas
+ histórico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" y="4892040"/>
            <a:ext cx="9829800" cy="822960"/>
          </a:xfrm>
          <a:prstGeom prst="roundRect">
            <a:avLst>
              <a:gd name="adj" fmla="val 12000"/>
            </a:avLst>
          </a:prstGeom>
          <a:solidFill>
            <a:srgbClr val="0C192B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17320" y="5084064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AD3C2"/>
                </a:solidFill>
                <a:latin typeface="Aptos"/>
              </a:rPr>
              <a:t>Exemplo de tópico:  fabrica/maquinas/M01/telemetria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084064"/>
            <a:ext cx="4160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2F7FC"/>
                </a:solidFill>
                <a:latin typeface="Aptos"/>
              </a:rPr>
              <a:t>Payload JSON → machine • temperature • flow • status • timestamp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B5B"/>
          </a:solidFill>
          <a:ln w="1270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5B5B"/>
                </a:solidFill>
                <a:latin typeface="Aptos"/>
              </a:rPr>
              <a:t>05 • INTELIGÊNCIA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2F7FC"/>
                </a:solidFill>
                <a:latin typeface="Aptos"/>
              </a:rPr>
              <a:t>O estado da máquina nasce dos sinais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A classificação considera o pior estado entre os sinais monitorados.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154680" cy="19659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9050"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49CD83"/>
          </a:solidFill>
          <a:ln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8101E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26771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49CD83"/>
                </a:solidFill>
                <a:latin typeface="Aptos"/>
              </a:rPr>
              <a:t>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0C4"/>
                </a:solidFill>
                <a:latin typeface="Aptos"/>
              </a:rPr>
              <a:t>operação dentro da faixa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965960"/>
            <a:ext cx="3154680" cy="19659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9050"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89120" y="2286000"/>
            <a:ext cx="502920" cy="502920"/>
          </a:xfrm>
          <a:prstGeom prst="ellipse">
            <a:avLst/>
          </a:prstGeom>
          <a:solidFill>
            <a:srgbClr val="F7BE41"/>
          </a:solidFill>
          <a:ln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8101E"/>
                </a:solidFill>
                <a:latin typeface="Aptos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1" y="226771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7BE41"/>
                </a:solidFill>
                <a:latin typeface="Aptos"/>
              </a:rPr>
              <a:t>ATENÇÃO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063240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0C4"/>
                </a:solidFill>
                <a:latin typeface="Aptos"/>
              </a:rPr>
              <a:t>desvio que merece acompanhamento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965960"/>
            <a:ext cx="3154680" cy="19659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905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818120" y="2286000"/>
            <a:ext cx="502920" cy="502920"/>
          </a:xfrm>
          <a:prstGeom prst="ellipse">
            <a:avLst/>
          </a:prstGeom>
          <a:solidFill>
            <a:srgbClr val="EF5B5B"/>
          </a:solidFill>
          <a:ln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22860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8101E"/>
                </a:solidFill>
                <a:latin typeface="Aptos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26771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5B5B"/>
                </a:solidFill>
                <a:latin typeface="Aptos"/>
              </a:rPr>
              <a:t>CRÍTICO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063240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0C4"/>
                </a:solidFill>
                <a:latin typeface="Aptos"/>
              </a:rPr>
              <a:t>fora da faixa definida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DB0C4"/>
                </a:solidFill>
                <a:latin typeface="Aptos"/>
              </a:rPr>
              <a:t>EXEMPLOS DE LIMITES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69467" y="4877843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162B42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34059" y="5033291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DB0C4"/>
                </a:solidFill>
                <a:latin typeface="Aptos"/>
              </a:rPr>
              <a:t>Temperatura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4059" y="5307611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F5B5B"/>
                </a:solidFill>
                <a:latin typeface="Aptos"/>
              </a:rPr>
              <a:t>&gt; 80 °C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35526" y="4877843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162B42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0118" y="5033291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DB0C4"/>
                </a:solidFill>
                <a:latin typeface="Aptos"/>
              </a:rPr>
              <a:t>Corrente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118" y="5307611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F5B5B"/>
                </a:solidFill>
                <a:latin typeface="Aptos"/>
              </a:rPr>
              <a:t>&gt; 11 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24447" y="4877843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162B42"/>
          </a:solidFill>
          <a:ln w="12700">
            <a:solidFill>
              <a:srgbClr val="2F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039" y="5033291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DB0C4"/>
                </a:solidFill>
                <a:latin typeface="Aptos"/>
              </a:rPr>
              <a:t>Vazão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039" y="5307611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F5B5B"/>
                </a:solidFill>
                <a:latin typeface="Aptos"/>
              </a:rPr>
              <a:t>&lt; 10 ou &gt; 45 L/min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9CD83"/>
          </a:solidFill>
          <a:ln w="12700"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9CD83"/>
                </a:solidFill>
                <a:latin typeface="Aptos"/>
              </a:rPr>
              <a:t>06 • VISUALIZAÇÃO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6023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 dirty="0">
                <a:solidFill>
                  <a:srgbClr val="F2F7FC"/>
                </a:solidFill>
                <a:latin typeface="Aptos"/>
              </a:rPr>
              <a:t>Mini Central de </a:t>
            </a:r>
            <a:r>
              <a:rPr sz="2900" b="1" dirty="0" err="1">
                <a:solidFill>
                  <a:srgbClr val="F2F7FC"/>
                </a:solidFill>
                <a:latin typeface="Aptos"/>
              </a:rPr>
              <a:t>Monitoramento</a:t>
            </a:r>
            <a:r>
              <a:rPr sz="2900" b="1" dirty="0">
                <a:solidFill>
                  <a:srgbClr val="F2F7FC"/>
                </a:solidFill>
                <a:latin typeface="Aptos"/>
              </a:rPr>
              <a:t>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3842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O Grafana reúne o estado atual, séries temporais e eventos de alerta.</a:t>
            </a:r>
          </a:p>
        </p:txBody>
      </p:sp>
      <p:pic>
        <p:nvPicPr>
          <p:cNvPr id="73" name="Imagem 72">
            <a:extLst>
              <a:ext uri="{FF2B5EF4-FFF2-40B4-BE49-F238E27FC236}">
                <a16:creationId xmlns:a16="http://schemas.microsoft.com/office/drawing/2014/main" id="{F252D190-2CDF-94F4-0444-21413B03FC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61082" y="1857297"/>
            <a:ext cx="7869836" cy="387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9CD83"/>
          </a:solidFill>
          <a:ln w="12700"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9CD83"/>
                </a:solidFill>
                <a:latin typeface="Aptos"/>
              </a:rPr>
              <a:t>06 • VISUALIZAÇÃO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6023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 dirty="0">
                <a:solidFill>
                  <a:srgbClr val="F2F7FC"/>
                </a:solidFill>
                <a:latin typeface="Aptos"/>
              </a:rPr>
              <a:t>Mini Central de </a:t>
            </a:r>
            <a:r>
              <a:rPr sz="2900" b="1" dirty="0" err="1">
                <a:solidFill>
                  <a:srgbClr val="F2F7FC"/>
                </a:solidFill>
                <a:latin typeface="Aptos"/>
              </a:rPr>
              <a:t>Monitoramento</a:t>
            </a:r>
            <a:r>
              <a:rPr sz="2900" b="1" dirty="0">
                <a:solidFill>
                  <a:srgbClr val="F2F7FC"/>
                </a:solidFill>
                <a:latin typeface="Aptos"/>
              </a:rPr>
              <a:t>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3842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O Grafana reúne o estado atual, séries temporais e eventos de alerta.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316CED9-C418-1C71-BBC7-2E5E41BB4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980" y="1485392"/>
            <a:ext cx="8036119" cy="479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5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9CD83"/>
          </a:solidFill>
          <a:ln w="12700"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9CD83"/>
                </a:solidFill>
                <a:latin typeface="Aptos"/>
              </a:rPr>
              <a:t>06 • VISUALIZAÇÃO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6023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 dirty="0">
                <a:solidFill>
                  <a:srgbClr val="F2F7FC"/>
                </a:solidFill>
                <a:latin typeface="Aptos"/>
              </a:rPr>
              <a:t>Mini Central de </a:t>
            </a:r>
            <a:r>
              <a:rPr sz="2900" b="1" dirty="0" err="1">
                <a:solidFill>
                  <a:srgbClr val="F2F7FC"/>
                </a:solidFill>
                <a:latin typeface="Aptos"/>
              </a:rPr>
              <a:t>Monitoramento</a:t>
            </a:r>
            <a:r>
              <a:rPr sz="2900" b="1" dirty="0">
                <a:solidFill>
                  <a:srgbClr val="F2F7FC"/>
                </a:solidFill>
                <a:latin typeface="Aptos"/>
              </a:rPr>
              <a:t>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3842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O Grafana reúne o estado atual, séries temporais e eventos de alerta.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643BFB5-F78D-24B4-E29A-D7733AFDA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06" y="1803017"/>
            <a:ext cx="11488587" cy="27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55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F5B5B"/>
          </a:solidFill>
          <a:ln w="1270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5B5B"/>
                </a:solidFill>
                <a:latin typeface="Aptos"/>
              </a:rPr>
              <a:t>07 • DEMONSTRAÇÃO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2F7FC"/>
                </a:solidFill>
                <a:latin typeface="Aptos"/>
              </a:rPr>
              <a:t>Do normal ao alerta em poucos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A bancada permite mostrar o ciclo completo com infraestrutura local.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2578608" cy="24231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9050"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2395728"/>
            <a:ext cx="475488" cy="475488"/>
          </a:xfrm>
          <a:prstGeom prst="ellipse">
            <a:avLst/>
          </a:prstGeom>
          <a:solidFill>
            <a:srgbClr val="49CD83"/>
          </a:solidFill>
          <a:ln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39572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01E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4495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9CD83"/>
                </a:solidFill>
                <a:latin typeface="Aptos"/>
              </a:rPr>
              <a:t>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502152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F7FC"/>
                </a:solidFill>
                <a:latin typeface="Aptos"/>
              </a:rPr>
              <a:t>ESP32 envia leituras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86200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B0C4"/>
                </a:solidFill>
                <a:latin typeface="Aptos"/>
              </a:rPr>
              <a:t>Tudo dentro das faixas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3090672"/>
            <a:ext cx="3840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49CD83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148840"/>
            <a:ext cx="2578608" cy="24231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9050"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85032" y="2395728"/>
            <a:ext cx="475488" cy="475488"/>
          </a:xfrm>
          <a:prstGeom prst="ellipse">
            <a:avLst/>
          </a:prstGeom>
          <a:solidFill>
            <a:srgbClr val="F7BE41"/>
          </a:solidFill>
          <a:ln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85032" y="239572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01E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04495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7BE41"/>
                </a:solidFill>
                <a:latin typeface="Aptos"/>
              </a:rPr>
              <a:t>ALTERAÇÃO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502152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F7FC"/>
                </a:solidFill>
                <a:latin typeface="Aptos"/>
              </a:rPr>
              <a:t>sensor é aquecido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3886200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B0C4"/>
                </a:solidFill>
                <a:latin typeface="Aptos"/>
              </a:rPr>
              <a:t>temperatura sobe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7" y="3090672"/>
            <a:ext cx="3840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7BE4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2148840"/>
            <a:ext cx="2578608" cy="24231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905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65392" y="2395728"/>
            <a:ext cx="475488" cy="475488"/>
          </a:xfrm>
          <a:prstGeom prst="ellipse">
            <a:avLst/>
          </a:prstGeom>
          <a:solidFill>
            <a:srgbClr val="EF5B5B"/>
          </a:solidFill>
          <a:ln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239572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01E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04495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5B5B"/>
                </a:solidFill>
                <a:latin typeface="Aptos"/>
              </a:rPr>
              <a:t>CRÍTICO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502152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F7FC"/>
                </a:solidFill>
                <a:latin typeface="Aptos"/>
              </a:rPr>
              <a:t>&gt; 80 °C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886200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B0C4"/>
                </a:solidFill>
                <a:latin typeface="Aptos"/>
              </a:rPr>
              <a:t>estado muda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3840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F5B5B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148840"/>
            <a:ext cx="2578608" cy="24231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905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445752" y="2395728"/>
            <a:ext cx="475488" cy="475488"/>
          </a:xfrm>
          <a:prstGeom prst="ellipse">
            <a:avLst/>
          </a:prstGeom>
          <a:solidFill>
            <a:srgbClr val="2AD3C2"/>
          </a:solidFill>
          <a:ln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45752" y="239572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01E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304495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D3C2"/>
                </a:solidFill>
                <a:latin typeface="Aptos"/>
              </a:rPr>
              <a:t>GRAFANA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3502152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F7FC"/>
                </a:solidFill>
                <a:latin typeface="Aptos"/>
              </a:rPr>
              <a:t>alerta dispara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3886200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B0C4"/>
                </a:solidFill>
                <a:latin typeface="Aptos"/>
              </a:rPr>
              <a:t>operador visualiza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AD3C2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AD3C2"/>
                </a:solidFill>
                <a:latin typeface="Aptos"/>
              </a:rPr>
              <a:t>09 •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2F7FC"/>
                </a:solidFill>
                <a:latin typeface="Aptos"/>
              </a:rPr>
              <a:t>Protótipo local, com limites explícitos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DB0C4"/>
                </a:solidFill>
                <a:latin typeface="Aptos"/>
              </a:rPr>
              <a:t>A documentação separa o que é adequado para demonstração do que seria necessário em produção.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88FFF"/>
                </a:solidFill>
                <a:latin typeface="Aptos"/>
              </a:rPr>
              <a:t>REDE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2057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DB0C4"/>
                </a:solidFill>
                <a:latin typeface="Aptos"/>
              </a:rPr>
              <a:t>notebook + hotspot isolado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0312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AD3C2"/>
                </a:solidFill>
                <a:latin typeface="Aptos"/>
              </a:rPr>
              <a:t>BROKER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71800"/>
            <a:ext cx="2057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DB0C4"/>
                </a:solidFill>
                <a:latin typeface="Aptos"/>
              </a:rPr>
              <a:t>MQTT + LWT + validação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0312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7BE41"/>
                </a:solidFill>
                <a:latin typeface="Aptos"/>
              </a:rPr>
              <a:t>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2057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DB0C4"/>
                </a:solidFill>
                <a:latin typeface="Aptos"/>
              </a:rPr>
              <a:t>InfluxDB + autenticação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10312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2700"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39" y="242316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9CD83"/>
                </a:solidFill>
                <a:latin typeface="Aptos"/>
              </a:rPr>
              <a:t>ACESSO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971800"/>
            <a:ext cx="2057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DB0C4"/>
                </a:solidFill>
                <a:latin typeface="Aptos"/>
              </a:rPr>
              <a:t>Grafana + menor privilégio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526280"/>
            <a:ext cx="9966960" cy="736092"/>
          </a:xfrm>
          <a:prstGeom prst="roundRect">
            <a:avLst>
              <a:gd name="adj" fmla="val 12000"/>
            </a:avLst>
          </a:prstGeom>
          <a:solidFill>
            <a:srgbClr val="0C192B"/>
          </a:solidFill>
          <a:ln w="1270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4736592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5B5B"/>
                </a:solidFill>
                <a:latin typeface="Aptos"/>
              </a:rPr>
              <a:t>PARA PRODUÇÃO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597507"/>
            <a:ext cx="7818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F7FC"/>
                </a:solidFill>
                <a:latin typeface="Aptos"/>
              </a:rPr>
              <a:t>MQTT TLS/mTLS • identidade por dispositivo • ACL • VLAN OT • SSO • logs • OTA assinado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AD3C2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DB0C4"/>
                </a:solidFill>
                <a:latin typeface="Aptos"/>
              </a:rPr>
              <a:t>ESTAÇÃO DE BOMBEAMENTO •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DB0C4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10927080" cy="544068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 w="1905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143000"/>
            <a:ext cx="7772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AD3C2"/>
                </a:solidFill>
                <a:latin typeface="Aptos"/>
              </a:rPr>
              <a:t>ESTAÇÃO DE BOMBEAMENTO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64008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700" b="1" dirty="0" err="1">
                <a:solidFill>
                  <a:srgbClr val="F2F7FC"/>
                </a:solidFill>
                <a:latin typeface="Aptos"/>
              </a:rPr>
              <a:t>Medir</a:t>
            </a:r>
            <a:r>
              <a:rPr sz="3700" b="1" dirty="0">
                <a:solidFill>
                  <a:srgbClr val="F2F7FC"/>
                </a:solidFill>
                <a:latin typeface="Aptos"/>
              </a:rPr>
              <a:t>.
</a:t>
            </a:r>
            <a:r>
              <a:rPr sz="3700" b="1" dirty="0" err="1">
                <a:solidFill>
                  <a:srgbClr val="F2F7FC"/>
                </a:solidFill>
                <a:latin typeface="Aptos"/>
              </a:rPr>
              <a:t>Entender</a:t>
            </a:r>
            <a:r>
              <a:rPr sz="3700" b="1" dirty="0">
                <a:solidFill>
                  <a:srgbClr val="F2F7FC"/>
                </a:solidFill>
                <a:latin typeface="Aptos"/>
              </a:rPr>
              <a:t>.
</a:t>
            </a:r>
            <a:r>
              <a:rPr sz="3700" b="1" dirty="0" err="1">
                <a:solidFill>
                  <a:srgbClr val="F2F7FC"/>
                </a:solidFill>
                <a:latin typeface="Aptos"/>
              </a:rPr>
              <a:t>Antecipar</a:t>
            </a:r>
            <a:r>
              <a:rPr sz="3700" b="1" dirty="0">
                <a:solidFill>
                  <a:srgbClr val="F2F7FC"/>
                </a:solidFill>
                <a:latin typeface="Apto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86200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9DB0C4"/>
                </a:solidFill>
                <a:latin typeface="Aptos"/>
              </a:rPr>
              <a:t>Mini Central de Monitoramento Industrial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2743200" cy="566928"/>
          </a:xfrm>
          <a:prstGeom prst="roundRect">
            <a:avLst>
              <a:gd name="adj" fmla="val 12000"/>
            </a:avLst>
          </a:prstGeom>
          <a:solidFill>
            <a:srgbClr val="0C192B"/>
          </a:solidFill>
          <a:ln w="12700">
            <a:solidFill>
              <a:srgbClr val="3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141732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88FFF"/>
                </a:solidFill>
                <a:latin typeface="Aptos"/>
              </a:rPr>
              <a:t>ESP32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286000"/>
            <a:ext cx="2743200" cy="566928"/>
          </a:xfrm>
          <a:prstGeom prst="roundRect">
            <a:avLst>
              <a:gd name="adj" fmla="val 12000"/>
            </a:avLst>
          </a:prstGeom>
          <a:solidFill>
            <a:srgbClr val="0C192B"/>
          </a:solidFill>
          <a:ln w="12700">
            <a:solidFill>
              <a:srgbClr val="2A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228600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AD3C2"/>
                </a:solidFill>
                <a:latin typeface="Aptos"/>
              </a:rPr>
              <a:t>MQTT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154680"/>
            <a:ext cx="2743200" cy="566928"/>
          </a:xfrm>
          <a:prstGeom prst="roundRect">
            <a:avLst>
              <a:gd name="adj" fmla="val 12000"/>
            </a:avLst>
          </a:prstGeom>
          <a:solidFill>
            <a:srgbClr val="0C192B"/>
          </a:solidFill>
          <a:ln w="12700">
            <a:solidFill>
              <a:srgbClr val="F7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315468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7BE41"/>
                </a:solidFill>
                <a:latin typeface="Aptos"/>
              </a:rPr>
              <a:t>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023359"/>
            <a:ext cx="2743200" cy="566928"/>
          </a:xfrm>
          <a:prstGeom prst="roundRect">
            <a:avLst>
              <a:gd name="adj" fmla="val 12000"/>
            </a:avLst>
          </a:prstGeom>
          <a:solidFill>
            <a:srgbClr val="0C192B"/>
          </a:solidFill>
          <a:ln w="12700">
            <a:solidFill>
              <a:srgbClr val="49C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4023359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9CD83"/>
                </a:solidFill>
                <a:latin typeface="Aptos"/>
              </a:rPr>
              <a:t>GRAFANA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9834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2F7FC"/>
                </a:solidFill>
                <a:latin typeface="Aptos"/>
              </a:rPr>
              <a:t>Obrigado!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3283" y="5421364"/>
            <a:ext cx="940067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000" b="1" dirty="0">
                <a:solidFill>
                  <a:srgbClr val="2AD3C2"/>
                </a:solidFill>
                <a:latin typeface="Aptos"/>
              </a:rPr>
              <a:t>REPOSITÓRIO GITHUB: </a:t>
            </a:r>
            <a:r>
              <a:rPr lang="pt-BR" sz="2000" b="1" dirty="0">
                <a:solidFill>
                  <a:srgbClr val="26BEB1"/>
                </a:solidFill>
                <a:latin typeface="Apto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https://github.com/PedroFurtadoC/estacao-bombeamento-iot</a:t>
            </a:r>
            <a:endParaRPr sz="2000" b="1" dirty="0">
              <a:solidFill>
                <a:srgbClr val="26BEB1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834</Words>
  <Application>Microsoft Office PowerPoint</Application>
  <PresentationFormat>Widescreen</PresentationFormat>
  <Paragraphs>231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Estação de Bombeamento IoT: Mini Central de Monitoramento</dc:title>
  <dc:creator>Pedro Furtado Cunha</dc:creator>
  <cp:lastModifiedBy>Pedro Furtado Cunha</cp:lastModifiedBy>
  <cp:revision>3</cp:revision>
  <dcterms:modified xsi:type="dcterms:W3CDTF">2026-09-23T23:10:10Z</dcterms:modified>
</cp:coreProperties>
</file>